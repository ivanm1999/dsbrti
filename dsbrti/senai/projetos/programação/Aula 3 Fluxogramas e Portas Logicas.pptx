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8" r:id="rId4"/>
    <p:sldId id="269" r:id="rId5"/>
    <p:sldId id="267" r:id="rId6"/>
    <p:sldId id="26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2141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16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1156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64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355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53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910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938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722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744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898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434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77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8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192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84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75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7672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597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016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9468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689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796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6984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854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703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0854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86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6/11/2026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83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274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62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975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8982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172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912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612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16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57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98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472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52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9670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4060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033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05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005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6/11/2026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483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216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80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07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9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nl/view-image.php?image=263438&amp;picture=silhouet-hersenen-logica-mentaa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1895E-E956-6C8A-EEAD-B1815A514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 fontScale="90000"/>
          </a:bodyPr>
          <a:lstStyle/>
          <a:p>
            <a:r>
              <a:rPr lang="pt-BR" dirty="0"/>
              <a:t>Fluxograma (sequência de ações) e Portas Lógicas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4C2CDF-7402-AE33-6900-C7CE3335B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lang="pt-BR" dirty="0"/>
              <a:t>Prof. Jean Reymunde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E5E1FC6B-B13D-36EB-ED33-5033A9AD87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479" r="27479"/>
          <a:stretch>
            <a:fillRect/>
          </a:stretch>
        </p:blipFill>
        <p:spPr>
          <a:xfrm>
            <a:off x="7534275" y="0"/>
            <a:ext cx="4654550" cy="6858000"/>
          </a:xfrm>
        </p:spPr>
      </p:pic>
    </p:spTree>
    <p:extLst>
      <p:ext uri="{BB962C8B-B14F-4D97-AF65-F5344CB8AC3E}">
        <p14:creationId xmlns:p14="http://schemas.microsoft.com/office/powerpoint/2010/main" val="162764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E6C1B-B8FF-831D-5A6B-4AB36066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pt-BR"/>
              <a:t>Agenda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720EB5F2-51E5-5616-9B62-9748C604B41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667757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057702" y="310896"/>
          <a:ext cx="5509458" cy="509926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1625564949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2847848633"/>
                    </a:ext>
                  </a:extLst>
                </a:gridCol>
              </a:tblGrid>
              <a:tr h="83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Fluxograma de Prensa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449385"/>
                  </a:ext>
                </a:extLst>
              </a:tr>
              <a:tr h="704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Função Lógica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517025"/>
                  </a:ext>
                </a:extLst>
              </a:tr>
              <a:tr h="704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Símbolos Lógicos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883546"/>
                  </a:ext>
                </a:extLst>
              </a:tr>
              <a:tr h="704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Tabela Verdade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294660"/>
                  </a:ext>
                </a:extLst>
              </a:tr>
              <a:tr h="1003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cap="none" spc="0" dirty="0">
                          <a:solidFill>
                            <a:schemeClr val="tx1"/>
                          </a:solidFill>
                        </a:rPr>
                        <a:t>Expressão booleana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665835"/>
                  </a:ext>
                </a:extLst>
              </a:tr>
              <a:tr h="1036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Resumos geral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32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31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34595-98C5-EDFC-ABF9-CF5086C4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Fluxograma de Prensa</a:t>
            </a:r>
          </a:p>
        </p:txBody>
      </p:sp>
      <p:pic>
        <p:nvPicPr>
          <p:cNvPr id="5" name="Espaço Reservado para Conteúdo 3">
            <a:extLst>
              <a:ext uri="{FF2B5EF4-FFF2-40B4-BE49-F238E27FC236}">
                <a16:creationId xmlns:a16="http://schemas.microsoft.com/office/drawing/2014/main" id="{91D0F4EF-580A-978E-8517-D7121146232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856" y="292608"/>
            <a:ext cx="3862414" cy="63789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7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BBABB-EE2D-CC10-3995-A18E9A63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271016"/>
            <a:ext cx="4855464" cy="4535424"/>
          </a:xfrm>
        </p:spPr>
        <p:txBody>
          <a:bodyPr>
            <a:noAutofit/>
          </a:bodyPr>
          <a:lstStyle/>
          <a:p>
            <a:pPr algn="l"/>
            <a:r>
              <a:rPr lang="pt-BR" sz="1600" dirty="0"/>
              <a:t>1.Uma prensa com equipamento de proteção só deve ser ativada por meio de um botão INICIAR S3 quando a grade de proteção estiver fechada. Este estado é monitorado por meio de um sensor de grade de proteção fechado B1.</a:t>
            </a:r>
            <a:br>
              <a:rPr lang="pt-BR" sz="1600" dirty="0"/>
            </a:br>
            <a:r>
              <a:rPr lang="pt-BR" sz="1600" dirty="0"/>
              <a:t> </a:t>
            </a:r>
            <a:br>
              <a:rPr lang="pt-BR" sz="1600" dirty="0"/>
            </a:br>
            <a:r>
              <a:rPr lang="pt-BR" sz="1600" dirty="0"/>
              <a:t>2. Em caso afirmativo, a válvula de 5/2 vias M0 junto ao cilindro da prensa é energizada para que uma forma de plástico possa ser estampada. </a:t>
            </a:r>
            <a:br>
              <a:rPr lang="pt-BR" sz="1600" dirty="0"/>
            </a:br>
            <a:br>
              <a:rPr lang="pt-BR" sz="1600" dirty="0"/>
            </a:br>
            <a:r>
              <a:rPr lang="pt-BR" sz="1600" dirty="0"/>
              <a:t>3. A prensa deve subir novamente quando o botão de PARADA DE EMERGÊNCIA (NF) for acionado ou quando o sensor da grade de proteção B1 não mais responder ou quando o sensor do cilindro B2 responder como estendido.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47FD63A-F074-0E96-F844-A40A601B009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76614"/>
            <a:ext cx="6775704" cy="644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5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4522-4A5D-7332-3444-F3304322D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97593-2FB3-8464-CAD7-E2989E70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Função Lógica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6DF65E3E-7FAA-D0A6-5414-DB1B0106126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56682386"/>
              </p:ext>
            </p:extLst>
          </p:nvPr>
        </p:nvGraphicFramePr>
        <p:xfrm>
          <a:off x="5294376" y="859600"/>
          <a:ext cx="6739128" cy="528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9564">
                  <a:extLst>
                    <a:ext uri="{9D8B030D-6E8A-4147-A177-3AD203B41FA5}">
                      <a16:colId xmlns:a16="http://schemas.microsoft.com/office/drawing/2014/main" val="1140089753"/>
                    </a:ext>
                  </a:extLst>
                </a:gridCol>
                <a:gridCol w="3369564">
                  <a:extLst>
                    <a:ext uri="{9D8B030D-6E8A-4147-A177-3AD203B41FA5}">
                      <a16:colId xmlns:a16="http://schemas.microsoft.com/office/drawing/2014/main" val="248201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Função Lógica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11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Porta 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Amplifica o valor de entrada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321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Porta NOT – inversora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Inverte a variável aplicada a sua entrada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57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Porta AND – “E”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Assume 1 quando todas as variáveis forem 1 e 0 nos outros casos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1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Porta NAND- “NE”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Assume 0 quando todas a variáveis forem 1 e 0 nos outros casos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18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Porta OR – “OU”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Assume 0 quando todas as variáveis forem 0 e 1 nos outros casos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23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Porta NOR – “NOU”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Assume 1 quando todas as variáveis forem 0 e 1 nos outros casos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673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Porta XOR – “OU Exclusivo”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Assume 1 quando as variáveis assumirem valores diferentes entre si.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870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Porta XNOR – “NOU Exclusivo”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Assume 1 quando houver coincidência entre os valores das variáveis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981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111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E9BAF-B189-4B2A-3BBF-B15E7148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77BA7-CD3B-A363-0C02-16154C56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Símbolos Lógicos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F00B1646-7262-84F8-4E48-4892BE355C0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6890" y="129706"/>
            <a:ext cx="1965388" cy="653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118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B6F0D-6E0D-6950-8A7D-6FFE6AFC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Tabela Verdade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7998A5-3030-D285-2BCA-5B07F8358E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3C8743-7BE3-F6A8-0734-019F89DEF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195" y="0"/>
            <a:ext cx="3320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09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81DE4-7176-3D34-1FB3-6DE83CA0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chemeClr val="tx1"/>
                </a:solidFill>
              </a:rPr>
              <a:t>Expressão booleana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82591304-92CE-4385-8BDE-C79372DEF4E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936" y="97870"/>
            <a:ext cx="1655064" cy="670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4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23003-87AD-CD82-657B-1D1B7C2D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chemeClr val="tx1"/>
                </a:solidFill>
              </a:rPr>
              <a:t>Resumos geral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380046C1-8DB8-1C87-7E0B-22B69531C0A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229" y="66272"/>
            <a:ext cx="4074988" cy="65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57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3E10A-74BA-6CAA-EACF-2A720131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chemeClr val="tx1"/>
                </a:solidFill>
              </a:rPr>
              <a:t>Desafio: fazer o controle da prensa usando os símbolos lógicos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5B1EC-DA76-D369-B399-2D86A4B391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A41AA5-E407-9988-4C23-7C3CA82FE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647" y="0"/>
            <a:ext cx="2062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88548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308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Light</vt:lpstr>
      <vt:lpstr>Arial</vt:lpstr>
      <vt:lpstr>Chroma</vt:lpstr>
      <vt:lpstr>Fluxograma (sequência de ações) e Portas Lógicas</vt:lpstr>
      <vt:lpstr>Agenda</vt:lpstr>
      <vt:lpstr>Fluxograma de Prensa</vt:lpstr>
      <vt:lpstr>1.Uma prensa com equipamento de proteção só deve ser ativada por meio de um botão INICIAR S3 quando a grade de proteção estiver fechada. Este estado é monitorado por meio de um sensor de grade de proteção fechado B1.   2. Em caso afirmativo, a válvula de 5/2 vias M0 junto ao cilindro da prensa é energizada para que uma forma de plástico possa ser estampada.   3. A prensa deve subir novamente quando o botão de PARADA DE EMERGÊNCIA (NF) for acionado ou quando o sensor da grade de proteção B1 não mais responder ou quando o sensor do cilindro B2 responder como estendido.</vt:lpstr>
      <vt:lpstr>Função Lógica</vt:lpstr>
      <vt:lpstr>Símbolos Lógicos</vt:lpstr>
      <vt:lpstr>Tabela Verdade</vt:lpstr>
      <vt:lpstr>Expressão booleana</vt:lpstr>
      <vt:lpstr>Resumos geral</vt:lpstr>
      <vt:lpstr>Desafio: fazer o controle da prensa usando os símbolos lógicos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- FIS Sistemas</dc:creator>
  <cp:lastModifiedBy>Jean - FIS Sistemas</cp:lastModifiedBy>
  <cp:revision>9</cp:revision>
  <dcterms:created xsi:type="dcterms:W3CDTF">2026-05-21T11:36:39Z</dcterms:created>
  <dcterms:modified xsi:type="dcterms:W3CDTF">2026-06-11T18:44:28Z</dcterms:modified>
</cp:coreProperties>
</file>