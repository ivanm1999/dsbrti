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72" r:id="rId5"/>
    <p:sldId id="269" r:id="rId6"/>
    <p:sldId id="267" r:id="rId7"/>
    <p:sldId id="268" r:id="rId8"/>
    <p:sldId id="259" r:id="rId9"/>
    <p:sldId id="260" r:id="rId10"/>
    <p:sldId id="261" r:id="rId11"/>
    <p:sldId id="271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141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6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156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53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10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938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22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4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98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34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77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8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192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84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75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67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97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16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9468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689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796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6984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854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03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0854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86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6/18/2026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3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27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62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975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982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172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91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61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16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5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98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472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52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9670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060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03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0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05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6/18/2026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483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216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80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0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9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nl/view-image.php?image=263438&amp;picture=silhouet-hersenen-logica-mentaa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895E-E956-6C8A-EEAD-B1815A514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lang="pt-BR" dirty="0"/>
              <a:t>Lógica em Linguagem </a:t>
            </a:r>
            <a:r>
              <a:rPr lang="pt-BR" dirty="0" err="1"/>
              <a:t>Ladder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4C2CDF-7402-AE33-6900-C7CE3335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pt-BR" dirty="0"/>
              <a:t>Prof. Jean Reymunde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E5E1FC6B-B13D-36EB-ED33-5033A9AD87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479" r="27479"/>
          <a:stretch>
            <a:fillRect/>
          </a:stretch>
        </p:blipFill>
        <p:spPr>
          <a:xfrm>
            <a:off x="7534275" y="0"/>
            <a:ext cx="4654550" cy="6858000"/>
          </a:xfrm>
        </p:spPr>
      </p:pic>
    </p:spTree>
    <p:extLst>
      <p:ext uri="{BB962C8B-B14F-4D97-AF65-F5344CB8AC3E}">
        <p14:creationId xmlns:p14="http://schemas.microsoft.com/office/powerpoint/2010/main" val="162764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E6C1B-B8FF-831D-5A6B-4AB36066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pt-BR"/>
              <a:t>Agenda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20EB5F2-51E5-5616-9B62-9748C604B41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242542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57702" y="310896"/>
          <a:ext cx="5509458" cy="6156277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1625564949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2847848633"/>
                    </a:ext>
                  </a:extLst>
                </a:gridCol>
              </a:tblGrid>
              <a:tr h="81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Funcionamento do Relé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449385"/>
                  </a:ext>
                </a:extLst>
              </a:tr>
              <a:tr h="719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Diagrama elétrico do Relé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517025"/>
                  </a:ext>
                </a:extLst>
              </a:tr>
              <a:tr h="719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Equivalente do Relé em </a:t>
                      </a:r>
                      <a:r>
                        <a:rPr lang="pt-BR" sz="2000" b="0" cap="none" spc="0" dirty="0" err="1">
                          <a:solidFill>
                            <a:schemeClr val="tx1"/>
                          </a:solidFill>
                        </a:rPr>
                        <a:t>Ladder</a:t>
                      </a:r>
                      <a:endParaRPr lang="pt-B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83546"/>
                  </a:ext>
                </a:extLst>
              </a:tr>
              <a:tr h="719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Porta Lógica “E” com Relé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94660"/>
                  </a:ext>
                </a:extLst>
              </a:tr>
              <a:tr h="973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Equivalente “E” em </a:t>
                      </a:r>
                      <a:r>
                        <a:rPr lang="pt-BR" sz="2000" b="0" cap="none" spc="0" dirty="0" err="1">
                          <a:solidFill>
                            <a:schemeClr val="tx1"/>
                          </a:solidFill>
                        </a:rPr>
                        <a:t>Ladder</a:t>
                      </a:r>
                      <a:endParaRPr lang="pt-B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665835"/>
                  </a:ext>
                </a:extLst>
              </a:tr>
              <a:tr h="1005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Entrada e Saída CLP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32232"/>
                  </a:ext>
                </a:extLst>
              </a:tr>
              <a:tr h="1005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Elementos da Linguagem </a:t>
                      </a:r>
                      <a:r>
                        <a:rPr lang="pt-BR" sz="2000" b="0" cap="none" spc="0" dirty="0" err="1">
                          <a:solidFill>
                            <a:schemeClr val="tx1"/>
                          </a:solidFill>
                        </a:rPr>
                        <a:t>Ladder</a:t>
                      </a:r>
                      <a:endParaRPr lang="pt-B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63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31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34595-98C5-EDFC-ABF9-CF5086C4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16836"/>
            <a:ext cx="4663440" cy="2624328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Funcionamento do Relé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61EE980-6817-C433-59BF-C2AE59C43B8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867" y="1187116"/>
            <a:ext cx="7050605" cy="428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9714-DFDE-F91B-59FB-5C1C7F6A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D0B66-1E90-EA12-C2B5-885CCCC0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16836"/>
            <a:ext cx="4663440" cy="2624328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Funcionamento do Relé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F0B9B1C-DB16-0590-461D-E31D69098D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675" y="1133856"/>
            <a:ext cx="6121315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3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BABB-EE2D-CC10-3995-A18E9A6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271016"/>
            <a:ext cx="4855464" cy="4535424"/>
          </a:xfrm>
        </p:spPr>
        <p:txBody>
          <a:bodyPr>
            <a:no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Diagrama elétrico do Relé</a:t>
            </a:r>
            <a:br>
              <a:rPr lang="pt-BR" dirty="0">
                <a:solidFill>
                  <a:schemeClr val="tx1"/>
                </a:solidFill>
              </a:rPr>
            </a:b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E2023A83-D981-4E79-ADEA-BA9CFD54DC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678" y="1673352"/>
            <a:ext cx="7114322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5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4522-4A5D-7332-3444-F3304322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97593-2FB3-8464-CAD7-E2989E70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Equivalente do Relé em </a:t>
            </a:r>
            <a:r>
              <a:rPr lang="pt-BR" dirty="0" err="1">
                <a:solidFill>
                  <a:schemeClr val="tx1"/>
                </a:solidFill>
              </a:rPr>
              <a:t>Ladder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86B5843-6795-F614-8372-BFDD554EAE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16" y="1133855"/>
            <a:ext cx="6958584" cy="358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1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9BAF-B189-4B2A-3BBF-B15E7148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77BA7-CD3B-A363-0C02-16154C56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Porta Lógica “E” com Relé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1D20C93-3976-806A-763F-76F166D6D2E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645" y="1892809"/>
            <a:ext cx="694665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1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B6F0D-6E0D-6950-8A7D-6FFE6AF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Equivalente “E” em </a:t>
            </a:r>
            <a:r>
              <a:rPr lang="pt-BR" dirty="0" err="1">
                <a:solidFill>
                  <a:schemeClr val="tx1"/>
                </a:solidFill>
              </a:rPr>
              <a:t>Ladder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998A5-3030-D285-2BCA-5B07F8358E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C1BF96-D090-055F-9285-33398E9C0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800" y="1335976"/>
            <a:ext cx="6813424" cy="44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0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1DE4-7176-3D34-1FB3-6DE83CA0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Entrada e Saída CLP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3F065CD6-F1CA-96C1-BF88-E3271406AA5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96" y="544208"/>
            <a:ext cx="6729790" cy="559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4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23003-87AD-CD82-657B-1D1B7C2D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Elementos da Linguagem </a:t>
            </a:r>
            <a:r>
              <a:rPr lang="pt-BR" dirty="0" err="1">
                <a:solidFill>
                  <a:schemeClr val="tx1"/>
                </a:solidFill>
              </a:rPr>
              <a:t>Ladder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89BB076-BCA9-E3F1-386C-E6F5D7F9E7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178" y="1426464"/>
            <a:ext cx="6473863" cy="32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5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BABB-EE2D-CC10-3995-A18E9A6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271016"/>
            <a:ext cx="4855464" cy="4535424"/>
          </a:xfrm>
        </p:spPr>
        <p:txBody>
          <a:bodyPr>
            <a:noAutofit/>
          </a:bodyPr>
          <a:lstStyle/>
          <a:p>
            <a:pPr algn="l"/>
            <a:r>
              <a:rPr lang="pt-BR" sz="1600" dirty="0"/>
              <a:t>1.Uma prensa com equipamento de proteção só deve ser ativada por meio de um botão INICIAR S3 quando a grade de proteção estiver fechada. Este estado é monitorado por meio de um sensor de grade de proteção fechado B1.</a:t>
            </a:r>
            <a:br>
              <a:rPr lang="pt-BR" sz="1600" dirty="0"/>
            </a:br>
            <a:r>
              <a:rPr lang="pt-BR" sz="1600" dirty="0"/>
              <a:t> </a:t>
            </a:r>
            <a:br>
              <a:rPr lang="pt-BR" sz="1600" dirty="0"/>
            </a:br>
            <a:r>
              <a:rPr lang="pt-BR" sz="1600" dirty="0"/>
              <a:t>2. Em caso afirmativo, a válvula de 5/2 vias M0 junto ao cilindro da prensa é energizada para que uma forma de plástico possa ser estampada. 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3. A prensa deve subir novamente quando o botão de PARADA DE EMERGÊNCIA (NF) for acionado ou quando o sensor da grade de proteção B1 não mais responder ou quando o sensor do cilindro B2 responder como estendido.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47FD63A-F074-0E96-F844-A40A601B009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76614"/>
            <a:ext cx="6775704" cy="644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9289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205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Light</vt:lpstr>
      <vt:lpstr>Arial</vt:lpstr>
      <vt:lpstr>Chroma</vt:lpstr>
      <vt:lpstr>Lógica em Linguagem Ladder</vt:lpstr>
      <vt:lpstr>Agenda</vt:lpstr>
      <vt:lpstr>Funcionamento do Relé</vt:lpstr>
      <vt:lpstr>Funcionamento do Relé</vt:lpstr>
      <vt:lpstr>Diagrama elétrico do Relé </vt:lpstr>
      <vt:lpstr>Equivalente do Relé em Ladder</vt:lpstr>
      <vt:lpstr>Porta Lógica “E” com Relé</vt:lpstr>
      <vt:lpstr>Equivalente “E” em Ladder</vt:lpstr>
      <vt:lpstr>Entrada e Saída CLP</vt:lpstr>
      <vt:lpstr>Elementos da Linguagem Ladder</vt:lpstr>
      <vt:lpstr>1.Uma prensa com equipamento de proteção só deve ser ativada por meio de um botão INICIAR S3 quando a grade de proteção estiver fechada. Este estado é monitorado por meio de um sensor de grade de proteção fechado B1.   2. Em caso afirmativo, a válvula de 5/2 vias M0 junto ao cilindro da prensa é energizada para que uma forma de plástico possa ser estampada.   3. A prensa deve subir novamente quando o botão de PARADA DE EMERGÊNCIA (NF) for acionado ou quando o sensor da grade de proteção B1 não mais responder ou quando o sensor do cilindro B2 responder como estendido.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- FIS Sistemas</dc:creator>
  <cp:lastModifiedBy>Jean - FIS Sistemas</cp:lastModifiedBy>
  <cp:revision>16</cp:revision>
  <dcterms:created xsi:type="dcterms:W3CDTF">2026-05-21T11:36:39Z</dcterms:created>
  <dcterms:modified xsi:type="dcterms:W3CDTF">2026-06-18T21:37:39Z</dcterms:modified>
</cp:coreProperties>
</file>